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B00"/>
    <a:srgbClr val="C8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48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BFF36-FBD4-4FB4-A912-10CC4237C3B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DB03F-35B9-4505-A644-1E108AD96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328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00939" y="1884164"/>
            <a:ext cx="3942066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250" b="1" kern="0" spc="-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SabendoLegal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1714500" y="2709267"/>
            <a:ext cx="5715000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Ágil de Software com Kanban e XP: Transformando Aprendizagem em Valor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223617" y="4643438"/>
            <a:ext cx="26967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Trabalho de Reposição • Gestão de Projetos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638" y="342900"/>
            <a:ext cx="5464969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Kanban: Visualizar e Otimizar o Fluxo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342900" y="989409"/>
            <a:ext cx="2666963" cy="3811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989409"/>
            <a:ext cx="2666963" cy="5715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18009"/>
            <a:ext cx="2209763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675209"/>
            <a:ext cx="2209763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Visualização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000250"/>
            <a:ext cx="22097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Tornar o trabalho visível em quadros para que todos entendam o estado do projeto instantaneamente.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238463" y="989409"/>
            <a:ext cx="2667019" cy="3811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238463" y="989409"/>
            <a:ext cx="2667019" cy="5715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063" y="1218009"/>
            <a:ext cx="2209819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67063" y="1675209"/>
            <a:ext cx="220981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Limitar o WIP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467063" y="2000250"/>
            <a:ext cx="220981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Controlar o "Trabalho em Andamento" para evitar sobrecarga e garantir que as tarefas sejam concluídas.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134081" y="989409"/>
            <a:ext cx="2667019" cy="3811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134081" y="989409"/>
            <a:ext cx="2667019" cy="5715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681" y="1218009"/>
            <a:ext cx="2209819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62681" y="1675209"/>
            <a:ext cx="220981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 Puxado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362681" y="2000250"/>
            <a:ext cx="22098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tarefas são puxadas conforme a capacidade, focando em "parar de começar e começar a terminar".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8486775" y="4775597"/>
            <a:ext cx="314325" cy="196453"/>
          </a:xfrm>
          <a:prstGeom prst="round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8486775" y="4775597"/>
            <a:ext cx="314325" cy="19645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638" y="342900"/>
            <a:ext cx="4586288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XP: Qualidade por Colaboração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342900" y="1923455"/>
            <a:ext cx="1985963" cy="12322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3112889"/>
            <a:ext cx="1985963" cy="42863"/>
          </a:xfrm>
          <a:prstGeom prst="rect">
            <a:avLst/>
          </a:prstGeom>
          <a:solidFill>
            <a:srgbClr val="FFAB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147" y="2116336"/>
            <a:ext cx="321469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4350" y="2487811"/>
            <a:ext cx="164306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Comunicação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14350" y="2719983"/>
            <a:ext cx="16430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Alinhamento total entre o time e o cliente.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2500313" y="1923455"/>
            <a:ext cx="1985963" cy="12322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2500313" y="3112889"/>
            <a:ext cx="1985963" cy="42863"/>
          </a:xfrm>
          <a:prstGeom prst="rect">
            <a:avLst/>
          </a:prstGeom>
          <a:solidFill>
            <a:srgbClr val="FFAB0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706" y="2116336"/>
            <a:ext cx="257175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71763" y="2487811"/>
            <a:ext cx="164306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Simplicidade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2671763" y="2719983"/>
            <a:ext cx="16430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Fazer o necessário para entregar valor agora.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657725" y="1923455"/>
            <a:ext cx="1985963" cy="12322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4657725" y="3112889"/>
            <a:ext cx="1985963" cy="42863"/>
          </a:xfrm>
          <a:prstGeom prst="rect">
            <a:avLst/>
          </a:prstGeom>
          <a:solidFill>
            <a:srgbClr val="FFAB0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119" y="2116336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29175" y="2487811"/>
            <a:ext cx="164306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Feedback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829175" y="2719983"/>
            <a:ext cx="16430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Aprender e ajustar em ciclos muito curtos.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6753726" y="1923455"/>
            <a:ext cx="2047375" cy="12322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6753727" y="3110726"/>
            <a:ext cx="2047374" cy="45719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21" name="Text 15"/>
          <p:cNvSpPr/>
          <p:nvPr/>
        </p:nvSpPr>
        <p:spPr>
          <a:xfrm>
            <a:off x="6986588" y="2500511"/>
            <a:ext cx="164306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Respeito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986588" y="2732683"/>
            <a:ext cx="16430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Responsabilidade coletiva pelo sucesso do projeto.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342900" y="4318397"/>
            <a:ext cx="8458200" cy="482203"/>
          </a:xfrm>
          <a:prstGeom prst="rect">
            <a:avLst/>
          </a:prstGeom>
          <a:solidFill>
            <a:srgbClr val="172B4D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108" y="4502348"/>
            <a:ext cx="114300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03133" y="4489847"/>
            <a:ext cx="8893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Presente</a:t>
            </a:r>
            <a:endParaRPr lang="en-US" sz="8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0046" y="4502348"/>
            <a:ext cx="114300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870071" y="4489847"/>
            <a:ext cx="10465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Pequenas Entregas</a:t>
            </a:r>
            <a:endParaRPr lang="en-US" sz="8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4146" y="4502348"/>
            <a:ext cx="114300" cy="1143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94171" y="4489847"/>
            <a:ext cx="144660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Colaborativo</a:t>
            </a:r>
            <a:endParaRPr lang="en-US" sz="850" dirty="0"/>
          </a:p>
        </p:txBody>
      </p:sp>
      <p:sp>
        <p:nvSpPr>
          <p:cNvPr id="30" name="Text 21"/>
          <p:cNvSpPr/>
          <p:nvPr/>
        </p:nvSpPr>
        <p:spPr>
          <a:xfrm>
            <a:off x="8658225" y="4832747"/>
            <a:ext cx="142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Rosto feliz 30"/>
          <p:cNvSpPr/>
          <p:nvPr/>
        </p:nvSpPr>
        <p:spPr>
          <a:xfrm>
            <a:off x="7631608" y="2142414"/>
            <a:ext cx="291610" cy="261137"/>
          </a:xfrm>
          <a:prstGeom prst="smileyFace">
            <a:avLst/>
          </a:prstGeom>
          <a:solidFill>
            <a:srgbClr val="F6BB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638" y="342900"/>
            <a:ext cx="4839891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SabendoLegal: A Ideia do Projeto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342900" y="989409"/>
            <a:ext cx="4114800" cy="3811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989409"/>
            <a:ext cx="57150" cy="3811191"/>
          </a:xfrm>
          <a:prstGeom prst="rect">
            <a:avLst/>
          </a:prstGeom>
          <a:solidFill>
            <a:srgbClr val="FF563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296591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975" y="1275159"/>
            <a:ext cx="111799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28650" y="1935510"/>
            <a:ext cx="3543300" cy="214313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engajamento em E-learning.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8650" y="2641848"/>
            <a:ext cx="3543300" cy="214313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acompanhamento prático.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28650" y="3348186"/>
            <a:ext cx="3543300" cy="214313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Demora na emissão de certificados.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8650" y="4054525"/>
            <a:ext cx="3543300" cy="214313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 de validação por empresas.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86300" y="989409"/>
            <a:ext cx="4114800" cy="3811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686300" y="989409"/>
            <a:ext cx="57150" cy="3811191"/>
          </a:xfrm>
          <a:prstGeom prst="rect">
            <a:avLst/>
          </a:prstGeom>
          <a:solidFill>
            <a:srgbClr val="36B37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1935510"/>
            <a:ext cx="142875" cy="214313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641848"/>
            <a:ext cx="142875" cy="214313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348186"/>
            <a:ext cx="142875" cy="214313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054525"/>
            <a:ext cx="142875" cy="214313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1296591"/>
            <a:ext cx="150019" cy="2000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36369" y="1275159"/>
            <a:ext cx="14430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B4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Nossa Solução</a:t>
            </a:r>
            <a:endParaRPr lang="en-US" sz="1400" dirty="0"/>
          </a:p>
        </p:txBody>
      </p:sp>
      <p:sp>
        <p:nvSpPr>
          <p:cNvPr id="20" name="Text 11"/>
          <p:cNvSpPr/>
          <p:nvPr/>
        </p:nvSpPr>
        <p:spPr>
          <a:xfrm>
            <a:off x="4972050" y="1935510"/>
            <a:ext cx="3543300" cy="214313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cursos on-demand.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4972050" y="2641848"/>
            <a:ext cx="3543300" cy="214313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de progresso real.</a:t>
            </a:r>
            <a:endParaRPr lang="en-US" sz="1050" dirty="0"/>
          </a:p>
        </p:txBody>
      </p:sp>
      <p:sp>
        <p:nvSpPr>
          <p:cNvPr id="22" name="Text 13"/>
          <p:cNvSpPr/>
          <p:nvPr/>
        </p:nvSpPr>
        <p:spPr>
          <a:xfrm>
            <a:off x="4972050" y="3348186"/>
            <a:ext cx="3543300" cy="214313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Provas com correção automática.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4972050" y="4054525"/>
            <a:ext cx="3543300" cy="214313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Certificado digital com QR Code.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8654653" y="4832747"/>
            <a:ext cx="1464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1935510"/>
            <a:ext cx="142875" cy="214313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2641848"/>
            <a:ext cx="142875" cy="214313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3348186"/>
            <a:ext cx="142875" cy="214313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4054525"/>
            <a:ext cx="1428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6" name="Text 0"/>
          <p:cNvSpPr/>
          <p:nvPr/>
        </p:nvSpPr>
        <p:spPr>
          <a:xfrm>
            <a:off x="528638" y="342900"/>
            <a:ext cx="4332684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 3 Épicos do SabendoLegal</a:t>
            </a:r>
            <a:endParaRPr lang="en-US" sz="2100" dirty="0"/>
          </a:p>
        </p:txBody>
      </p:sp>
      <p:sp>
        <p:nvSpPr>
          <p:cNvPr id="77" name="Shape 1"/>
          <p:cNvSpPr/>
          <p:nvPr/>
        </p:nvSpPr>
        <p:spPr>
          <a:xfrm>
            <a:off x="342900" y="903684"/>
            <a:ext cx="8458200" cy="610791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78" name="Text 2"/>
          <p:cNvSpPr/>
          <p:nvPr/>
        </p:nvSpPr>
        <p:spPr>
          <a:xfrm>
            <a:off x="514350" y="1034058"/>
            <a:ext cx="624363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Organizamos as funcionalidades em grandes objetivos e as dividimos em histórias de usuário menores.</a:t>
            </a:r>
            <a:endParaRPr lang="en-US" sz="1050" dirty="0"/>
          </a:p>
        </p:txBody>
      </p:sp>
      <p:sp>
        <p:nvSpPr>
          <p:cNvPr id="79" name="Shape 3"/>
          <p:cNvSpPr/>
          <p:nvPr/>
        </p:nvSpPr>
        <p:spPr>
          <a:xfrm>
            <a:off x="6757988" y="1032272"/>
            <a:ext cx="1871663" cy="353616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80" name="Text 4"/>
          <p:cNvSpPr/>
          <p:nvPr/>
        </p:nvSpPr>
        <p:spPr>
          <a:xfrm>
            <a:off x="6757988" y="1032272"/>
            <a:ext cx="1871663" cy="353616"/>
          </a:xfrm>
          <a:prstGeom prst="rect">
            <a:avLst/>
          </a:prstGeom>
          <a:noFill/>
          <a:ln/>
        </p:spPr>
        <p:txBody>
          <a:bodyPr wrap="square" lIns="153035" tIns="85090" rIns="153035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 histórias no total</a:t>
            </a:r>
            <a:endParaRPr lang="en-US" sz="1200" dirty="0"/>
          </a:p>
        </p:txBody>
      </p:sp>
      <p:sp>
        <p:nvSpPr>
          <p:cNvPr id="81" name="Shape 5"/>
          <p:cNvSpPr/>
          <p:nvPr/>
        </p:nvSpPr>
        <p:spPr>
          <a:xfrm>
            <a:off x="342900" y="1714500"/>
            <a:ext cx="2705081" cy="27753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6"/>
          <p:cNvSpPr/>
          <p:nvPr/>
        </p:nvSpPr>
        <p:spPr>
          <a:xfrm>
            <a:off x="342900" y="1714500"/>
            <a:ext cx="2705081" cy="7143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3" name="Text 7"/>
          <p:cNvSpPr/>
          <p:nvPr/>
        </p:nvSpPr>
        <p:spPr>
          <a:xfrm>
            <a:off x="528638" y="1900238"/>
            <a:ext cx="23336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5E6C8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ÉPICO 1</a:t>
            </a:r>
            <a:endParaRPr lang="en-US" sz="700" dirty="0"/>
          </a:p>
        </p:txBody>
      </p:sp>
      <p:sp>
        <p:nvSpPr>
          <p:cNvPr id="84" name="Text 8"/>
          <p:cNvSpPr/>
          <p:nvPr/>
        </p:nvSpPr>
        <p:spPr>
          <a:xfrm>
            <a:off x="528638" y="2107406"/>
            <a:ext cx="23336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Experiência de Aprendizagem do Aluno</a:t>
            </a:r>
            <a:endParaRPr lang="en-US" sz="1150" dirty="0"/>
          </a:p>
        </p:txBody>
      </p:sp>
      <p:sp>
        <p:nvSpPr>
          <p:cNvPr id="85" name="Text 9"/>
          <p:cNvSpPr/>
          <p:nvPr/>
        </p:nvSpPr>
        <p:spPr>
          <a:xfrm>
            <a:off x="528638" y="2664619"/>
            <a:ext cx="23336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C8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Histórias US01–US06 · Azul</a:t>
            </a:r>
            <a:endParaRPr lang="en-US" sz="750" dirty="0"/>
          </a:p>
        </p:txBody>
      </p:sp>
      <p:sp>
        <p:nvSpPr>
          <p:cNvPr id="86" name="Shape 10"/>
          <p:cNvSpPr/>
          <p:nvPr/>
        </p:nvSpPr>
        <p:spPr>
          <a:xfrm>
            <a:off x="528638" y="2864644"/>
            <a:ext cx="442913" cy="25360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7" name="Text 11"/>
          <p:cNvSpPr/>
          <p:nvPr/>
        </p:nvSpPr>
        <p:spPr>
          <a:xfrm>
            <a:off x="528638" y="2864644"/>
            <a:ext cx="442913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US01</a:t>
            </a:r>
            <a:endParaRPr lang="en-US" sz="800" dirty="0"/>
          </a:p>
        </p:txBody>
      </p:sp>
      <p:sp>
        <p:nvSpPr>
          <p:cNvPr id="88" name="Shape 12"/>
          <p:cNvSpPr/>
          <p:nvPr/>
        </p:nvSpPr>
        <p:spPr>
          <a:xfrm>
            <a:off x="1028700" y="2864644"/>
            <a:ext cx="464344" cy="25360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9" name="Text 13"/>
          <p:cNvSpPr/>
          <p:nvPr/>
        </p:nvSpPr>
        <p:spPr>
          <a:xfrm>
            <a:off x="1028700" y="2864644"/>
            <a:ext cx="464344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US02</a:t>
            </a:r>
            <a:endParaRPr lang="en-US" sz="800" dirty="0"/>
          </a:p>
        </p:txBody>
      </p:sp>
      <p:sp>
        <p:nvSpPr>
          <p:cNvPr id="90" name="Shape 14"/>
          <p:cNvSpPr/>
          <p:nvPr/>
        </p:nvSpPr>
        <p:spPr>
          <a:xfrm>
            <a:off x="1550194" y="2864644"/>
            <a:ext cx="467916" cy="25360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1" name="Text 15"/>
          <p:cNvSpPr/>
          <p:nvPr/>
        </p:nvSpPr>
        <p:spPr>
          <a:xfrm>
            <a:off x="1550194" y="2864644"/>
            <a:ext cx="467916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US03</a:t>
            </a:r>
            <a:endParaRPr lang="en-US" sz="800" dirty="0"/>
          </a:p>
        </p:txBody>
      </p:sp>
      <p:sp>
        <p:nvSpPr>
          <p:cNvPr id="92" name="Shape 16"/>
          <p:cNvSpPr/>
          <p:nvPr/>
        </p:nvSpPr>
        <p:spPr>
          <a:xfrm>
            <a:off x="2075259" y="2864644"/>
            <a:ext cx="471488" cy="25360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3" name="Text 17"/>
          <p:cNvSpPr/>
          <p:nvPr/>
        </p:nvSpPr>
        <p:spPr>
          <a:xfrm>
            <a:off x="2075259" y="2864644"/>
            <a:ext cx="471488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US04</a:t>
            </a:r>
            <a:endParaRPr lang="en-US" sz="800" dirty="0"/>
          </a:p>
        </p:txBody>
      </p:sp>
      <p:sp>
        <p:nvSpPr>
          <p:cNvPr id="94" name="Shape 18"/>
          <p:cNvSpPr/>
          <p:nvPr/>
        </p:nvSpPr>
        <p:spPr>
          <a:xfrm>
            <a:off x="528638" y="3175397"/>
            <a:ext cx="464344" cy="25360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5" name="Text 19"/>
          <p:cNvSpPr/>
          <p:nvPr/>
        </p:nvSpPr>
        <p:spPr>
          <a:xfrm>
            <a:off x="528638" y="3175397"/>
            <a:ext cx="464344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US05</a:t>
            </a:r>
            <a:endParaRPr lang="en-US" sz="800" dirty="0"/>
          </a:p>
        </p:txBody>
      </p:sp>
      <p:sp>
        <p:nvSpPr>
          <p:cNvPr id="96" name="Shape 20"/>
          <p:cNvSpPr/>
          <p:nvPr/>
        </p:nvSpPr>
        <p:spPr>
          <a:xfrm>
            <a:off x="1050131" y="3175397"/>
            <a:ext cx="467916" cy="25360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7" name="Text 21"/>
          <p:cNvSpPr/>
          <p:nvPr/>
        </p:nvSpPr>
        <p:spPr>
          <a:xfrm>
            <a:off x="1050131" y="3175397"/>
            <a:ext cx="467916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US06</a:t>
            </a:r>
            <a:endParaRPr lang="en-US" sz="800" dirty="0"/>
          </a:p>
        </p:txBody>
      </p:sp>
      <p:sp>
        <p:nvSpPr>
          <p:cNvPr id="98" name="Shape 22"/>
          <p:cNvSpPr/>
          <p:nvPr/>
        </p:nvSpPr>
        <p:spPr>
          <a:xfrm>
            <a:off x="3219431" y="1714500"/>
            <a:ext cx="2705081" cy="27753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hape 23"/>
          <p:cNvSpPr/>
          <p:nvPr/>
        </p:nvSpPr>
        <p:spPr>
          <a:xfrm>
            <a:off x="3219431" y="1714500"/>
            <a:ext cx="2705081" cy="71438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00" name="Text 24"/>
          <p:cNvSpPr/>
          <p:nvPr/>
        </p:nvSpPr>
        <p:spPr>
          <a:xfrm>
            <a:off x="3405169" y="1900238"/>
            <a:ext cx="23336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5E6C8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ÉPICO 2</a:t>
            </a:r>
            <a:endParaRPr lang="en-US" sz="700" dirty="0"/>
          </a:p>
        </p:txBody>
      </p:sp>
      <p:sp>
        <p:nvSpPr>
          <p:cNvPr id="101" name="Text 25"/>
          <p:cNvSpPr/>
          <p:nvPr/>
        </p:nvSpPr>
        <p:spPr>
          <a:xfrm>
            <a:off x="3405169" y="2107406"/>
            <a:ext cx="23336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Pedagógica, Avaliações e Certificação</a:t>
            </a:r>
            <a:endParaRPr lang="en-US" sz="1150" dirty="0"/>
          </a:p>
        </p:txBody>
      </p:sp>
      <p:sp>
        <p:nvSpPr>
          <p:cNvPr id="102" name="Text 26"/>
          <p:cNvSpPr/>
          <p:nvPr/>
        </p:nvSpPr>
        <p:spPr>
          <a:xfrm>
            <a:off x="3405169" y="2664619"/>
            <a:ext cx="23336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C8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Histórias US07–US12 · Amarelo</a:t>
            </a:r>
            <a:endParaRPr lang="en-US" sz="750" dirty="0"/>
          </a:p>
        </p:txBody>
      </p:sp>
      <p:sp>
        <p:nvSpPr>
          <p:cNvPr id="103" name="Shape 27"/>
          <p:cNvSpPr/>
          <p:nvPr/>
        </p:nvSpPr>
        <p:spPr>
          <a:xfrm>
            <a:off x="3405169" y="2864644"/>
            <a:ext cx="457200" cy="253603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04" name="Text 28"/>
          <p:cNvSpPr/>
          <p:nvPr/>
        </p:nvSpPr>
        <p:spPr>
          <a:xfrm>
            <a:off x="3405169" y="2864644"/>
            <a:ext cx="457200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US07</a:t>
            </a:r>
            <a:endParaRPr lang="en-US" sz="800" dirty="0"/>
          </a:p>
        </p:txBody>
      </p:sp>
      <p:sp>
        <p:nvSpPr>
          <p:cNvPr id="105" name="Shape 29"/>
          <p:cNvSpPr/>
          <p:nvPr/>
        </p:nvSpPr>
        <p:spPr>
          <a:xfrm>
            <a:off x="3919519" y="2864644"/>
            <a:ext cx="467916" cy="253603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06" name="Text 30"/>
          <p:cNvSpPr/>
          <p:nvPr/>
        </p:nvSpPr>
        <p:spPr>
          <a:xfrm>
            <a:off x="3919519" y="2864644"/>
            <a:ext cx="467916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US08</a:t>
            </a:r>
            <a:endParaRPr lang="en-US" sz="800" dirty="0"/>
          </a:p>
        </p:txBody>
      </p:sp>
      <p:sp>
        <p:nvSpPr>
          <p:cNvPr id="107" name="Shape 31"/>
          <p:cNvSpPr/>
          <p:nvPr/>
        </p:nvSpPr>
        <p:spPr>
          <a:xfrm>
            <a:off x="4444585" y="2864644"/>
            <a:ext cx="467916" cy="253603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08" name="Text 32"/>
          <p:cNvSpPr/>
          <p:nvPr/>
        </p:nvSpPr>
        <p:spPr>
          <a:xfrm>
            <a:off x="4444585" y="2864644"/>
            <a:ext cx="467916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US09</a:t>
            </a:r>
            <a:endParaRPr lang="en-US" sz="800" dirty="0"/>
          </a:p>
        </p:txBody>
      </p:sp>
      <p:sp>
        <p:nvSpPr>
          <p:cNvPr id="109" name="Shape 33"/>
          <p:cNvSpPr/>
          <p:nvPr/>
        </p:nvSpPr>
        <p:spPr>
          <a:xfrm>
            <a:off x="4969650" y="2864644"/>
            <a:ext cx="442913" cy="253603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10" name="Text 34"/>
          <p:cNvSpPr/>
          <p:nvPr/>
        </p:nvSpPr>
        <p:spPr>
          <a:xfrm>
            <a:off x="4969650" y="2864644"/>
            <a:ext cx="442913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US10</a:t>
            </a:r>
            <a:endParaRPr lang="en-US" sz="800" dirty="0"/>
          </a:p>
        </p:txBody>
      </p:sp>
      <p:sp>
        <p:nvSpPr>
          <p:cNvPr id="111" name="Shape 35"/>
          <p:cNvSpPr/>
          <p:nvPr/>
        </p:nvSpPr>
        <p:spPr>
          <a:xfrm>
            <a:off x="3405169" y="3175397"/>
            <a:ext cx="414338" cy="253603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12" name="Text 36"/>
          <p:cNvSpPr/>
          <p:nvPr/>
        </p:nvSpPr>
        <p:spPr>
          <a:xfrm>
            <a:off x="3405169" y="3175397"/>
            <a:ext cx="414338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US11</a:t>
            </a:r>
            <a:endParaRPr lang="en-US" sz="800" dirty="0"/>
          </a:p>
        </p:txBody>
      </p:sp>
      <p:sp>
        <p:nvSpPr>
          <p:cNvPr id="113" name="Shape 37"/>
          <p:cNvSpPr/>
          <p:nvPr/>
        </p:nvSpPr>
        <p:spPr>
          <a:xfrm>
            <a:off x="3876656" y="3175397"/>
            <a:ext cx="435769" cy="253603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14" name="Text 38"/>
          <p:cNvSpPr/>
          <p:nvPr/>
        </p:nvSpPr>
        <p:spPr>
          <a:xfrm>
            <a:off x="3876656" y="3175397"/>
            <a:ext cx="435769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US12</a:t>
            </a:r>
            <a:endParaRPr lang="en-US" sz="800" dirty="0"/>
          </a:p>
        </p:txBody>
      </p:sp>
      <p:sp>
        <p:nvSpPr>
          <p:cNvPr id="115" name="Shape 39"/>
          <p:cNvSpPr/>
          <p:nvPr/>
        </p:nvSpPr>
        <p:spPr>
          <a:xfrm>
            <a:off x="6095963" y="1714500"/>
            <a:ext cx="2705081" cy="27753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40"/>
          <p:cNvSpPr/>
          <p:nvPr/>
        </p:nvSpPr>
        <p:spPr>
          <a:xfrm>
            <a:off x="6095963" y="1714500"/>
            <a:ext cx="2705081" cy="71438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117" name="Text 41"/>
          <p:cNvSpPr/>
          <p:nvPr/>
        </p:nvSpPr>
        <p:spPr>
          <a:xfrm>
            <a:off x="6281700" y="1900238"/>
            <a:ext cx="23336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5E6C8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ÉPICO 3</a:t>
            </a:r>
            <a:endParaRPr lang="en-US" sz="700" dirty="0"/>
          </a:p>
        </p:txBody>
      </p:sp>
      <p:sp>
        <p:nvSpPr>
          <p:cNvPr id="118" name="Text 42"/>
          <p:cNvSpPr/>
          <p:nvPr/>
        </p:nvSpPr>
        <p:spPr>
          <a:xfrm>
            <a:off x="6281700" y="2107406"/>
            <a:ext cx="23336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Faturamento, Matrículas e Gestão de Assinaturas</a:t>
            </a:r>
            <a:endParaRPr lang="en-US" sz="1150" dirty="0"/>
          </a:p>
        </p:txBody>
      </p:sp>
      <p:sp>
        <p:nvSpPr>
          <p:cNvPr id="119" name="Text 43"/>
          <p:cNvSpPr/>
          <p:nvPr/>
        </p:nvSpPr>
        <p:spPr>
          <a:xfrm>
            <a:off x="6281700" y="2664619"/>
            <a:ext cx="23336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C8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Histórias US13–US17 · Verde</a:t>
            </a:r>
            <a:endParaRPr lang="en-US" sz="750" dirty="0"/>
          </a:p>
        </p:txBody>
      </p:sp>
      <p:sp>
        <p:nvSpPr>
          <p:cNvPr id="120" name="Shape 44"/>
          <p:cNvSpPr/>
          <p:nvPr/>
        </p:nvSpPr>
        <p:spPr>
          <a:xfrm>
            <a:off x="6281700" y="2864644"/>
            <a:ext cx="439341" cy="253603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121" name="Text 45"/>
          <p:cNvSpPr/>
          <p:nvPr/>
        </p:nvSpPr>
        <p:spPr>
          <a:xfrm>
            <a:off x="6281700" y="2864644"/>
            <a:ext cx="439341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US13</a:t>
            </a:r>
            <a:endParaRPr lang="en-US" sz="800" dirty="0"/>
          </a:p>
        </p:txBody>
      </p:sp>
      <p:sp>
        <p:nvSpPr>
          <p:cNvPr id="122" name="Shape 46"/>
          <p:cNvSpPr/>
          <p:nvPr/>
        </p:nvSpPr>
        <p:spPr>
          <a:xfrm>
            <a:off x="6778191" y="2864644"/>
            <a:ext cx="442913" cy="253603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123" name="Text 47"/>
          <p:cNvSpPr/>
          <p:nvPr/>
        </p:nvSpPr>
        <p:spPr>
          <a:xfrm>
            <a:off x="6778191" y="2864644"/>
            <a:ext cx="442913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US14</a:t>
            </a:r>
            <a:endParaRPr lang="en-US" sz="800" dirty="0"/>
          </a:p>
        </p:txBody>
      </p:sp>
      <p:sp>
        <p:nvSpPr>
          <p:cNvPr id="124" name="Shape 48"/>
          <p:cNvSpPr/>
          <p:nvPr/>
        </p:nvSpPr>
        <p:spPr>
          <a:xfrm>
            <a:off x="7278253" y="2864644"/>
            <a:ext cx="435769" cy="253603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125" name="Text 49"/>
          <p:cNvSpPr/>
          <p:nvPr/>
        </p:nvSpPr>
        <p:spPr>
          <a:xfrm>
            <a:off x="7278253" y="2864644"/>
            <a:ext cx="435769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US15</a:t>
            </a:r>
            <a:endParaRPr lang="en-US" sz="800" dirty="0"/>
          </a:p>
        </p:txBody>
      </p:sp>
      <p:sp>
        <p:nvSpPr>
          <p:cNvPr id="126" name="Shape 50"/>
          <p:cNvSpPr/>
          <p:nvPr/>
        </p:nvSpPr>
        <p:spPr>
          <a:xfrm>
            <a:off x="7771172" y="2864644"/>
            <a:ext cx="439341" cy="253603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127" name="Text 51"/>
          <p:cNvSpPr/>
          <p:nvPr/>
        </p:nvSpPr>
        <p:spPr>
          <a:xfrm>
            <a:off x="7771172" y="2864644"/>
            <a:ext cx="439341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US16</a:t>
            </a:r>
            <a:endParaRPr lang="en-US" sz="800" dirty="0"/>
          </a:p>
        </p:txBody>
      </p:sp>
      <p:sp>
        <p:nvSpPr>
          <p:cNvPr id="128" name="Shape 52"/>
          <p:cNvSpPr/>
          <p:nvPr/>
        </p:nvSpPr>
        <p:spPr>
          <a:xfrm>
            <a:off x="6281700" y="3175397"/>
            <a:ext cx="432197" cy="253603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129" name="Text 53"/>
          <p:cNvSpPr/>
          <p:nvPr/>
        </p:nvSpPr>
        <p:spPr>
          <a:xfrm>
            <a:off x="6281700" y="3175397"/>
            <a:ext cx="432197" cy="253603"/>
          </a:xfrm>
          <a:prstGeom prst="rect">
            <a:avLst/>
          </a:prstGeom>
          <a:noFill/>
          <a:ln/>
        </p:spPr>
        <p:txBody>
          <a:bodyPr wrap="none" lIns="93599" tIns="68072" rIns="93599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US17</a:t>
            </a:r>
            <a:endParaRPr lang="en-US" sz="800" dirty="0"/>
          </a:p>
        </p:txBody>
      </p:sp>
      <p:sp>
        <p:nvSpPr>
          <p:cNvPr id="130" name="Text 54"/>
          <p:cNvSpPr/>
          <p:nvPr/>
        </p:nvSpPr>
        <p:spPr>
          <a:xfrm>
            <a:off x="2248495" y="4661297"/>
            <a:ext cx="130730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Aprendizagem do aluno</a:t>
            </a:r>
            <a:endParaRPr lang="en-US" sz="800" dirty="0"/>
          </a:p>
        </p:txBody>
      </p:sp>
      <p:sp>
        <p:nvSpPr>
          <p:cNvPr id="131" name="Text 55"/>
          <p:cNvSpPr/>
          <p:nvPr/>
        </p:nvSpPr>
        <p:spPr>
          <a:xfrm>
            <a:off x="3912989" y="4661297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Pedagógico e certificação</a:t>
            </a:r>
            <a:endParaRPr lang="en-US" sz="800" dirty="0"/>
          </a:p>
        </p:txBody>
      </p:sp>
      <p:sp>
        <p:nvSpPr>
          <p:cNvPr id="132" name="Text 56"/>
          <p:cNvSpPr/>
          <p:nvPr/>
        </p:nvSpPr>
        <p:spPr>
          <a:xfrm>
            <a:off x="5706070" y="4661297"/>
            <a:ext cx="134659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Financeiro e assinaturas</a:t>
            </a:r>
            <a:endParaRPr lang="en-US" sz="800" dirty="0"/>
          </a:p>
        </p:txBody>
      </p:sp>
      <p:sp>
        <p:nvSpPr>
          <p:cNvPr id="133" name="Text 57"/>
          <p:cNvSpPr/>
          <p:nvPr/>
        </p:nvSpPr>
        <p:spPr>
          <a:xfrm>
            <a:off x="8661797" y="4832747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285750"/>
            <a:ext cx="3393281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Nosso Projeto no Trello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285750" y="817959"/>
            <a:ext cx="8572500" cy="3711178"/>
          </a:xfrm>
          <a:prstGeom prst="rect">
            <a:avLst/>
          </a:prstGeom>
          <a:solidFill>
            <a:srgbClr val="172B4D"/>
          </a:solidFill>
          <a:ln w="27432">
            <a:solidFill>
              <a:srgbClr val="FFFFF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2922"/>
            <a:ext cx="8229600" cy="32411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750" y="4700588"/>
            <a:ext cx="8572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visual do nosso fluxo de trabalho ágil estruturado em 5 colunas.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8658225" y="4832747"/>
            <a:ext cx="142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638" y="342900"/>
            <a:ext cx="4557713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Demonstração Prática: Kanban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342900" y="989409"/>
            <a:ext cx="4114800" cy="381119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37655"/>
            <a:ext cx="185738" cy="185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2963" y="1218009"/>
            <a:ext cx="156090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52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 de WIP = 3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71500" y="1585913"/>
            <a:ext cx="3657600" cy="396478"/>
          </a:xfrm>
          <a:prstGeom prst="rect">
            <a:avLst/>
          </a:prstGeom>
          <a:solidFill>
            <a:srgbClr val="FFFAE6"/>
          </a:solidFill>
          <a:ln w="18288">
            <a:solidFill>
              <a:srgbClr val="FFAB00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712714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5825" y="1700213"/>
            <a:ext cx="11322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Foco e Fluxo Puxado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71500" y="2096691"/>
            <a:ext cx="3657600" cy="70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coluna </a:t>
            </a: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 Andamento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possui rigorosamente 3 cartões (</a:t>
            </a:r>
            <a:r>
              <a:rPr lang="en-US" sz="950" dirty="0" smtClean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US01, US08,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US13). Isso garantiu que a equipe não ficasse sobrecarregada, focando na conclusão antes de iniciar novas tarefas.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4686300" y="989409"/>
            <a:ext cx="4114800" cy="381119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1237655"/>
            <a:ext cx="139303" cy="1857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39928" y="1218009"/>
            <a:ext cx="20288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52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Gargalo Identificado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914900" y="1585913"/>
            <a:ext cx="3657600" cy="396478"/>
          </a:xfrm>
          <a:prstGeom prst="rect">
            <a:avLst/>
          </a:prstGeom>
          <a:solidFill>
            <a:srgbClr val="FFEBE6"/>
          </a:solidFill>
          <a:ln w="18288">
            <a:solidFill>
              <a:srgbClr val="FF5630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712714"/>
            <a:ext cx="114300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29225" y="1700213"/>
            <a:ext cx="138231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B4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Demora na Homologação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4914900" y="2096691"/>
            <a:ext cx="3657600" cy="5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9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b="1" dirty="0" err="1" smtClean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Validação</a:t>
            </a:r>
            <a:r>
              <a:rPr lang="en-US" sz="950" dirty="0" smtClean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acumulou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smtClean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</a:t>
            </a:r>
            <a:r>
              <a:rPr lang="en-US" sz="9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cartões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950" dirty="0" smtClean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US03,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US07</a:t>
            </a:r>
            <a:r>
              <a:rPr lang="en-US" sz="950" dirty="0" smtClean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US09,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US11). Identificamos que a equipe pedagógica atrasou </a:t>
            </a:r>
            <a:r>
              <a:rPr lang="en-US" sz="9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testagem</a:t>
            </a:r>
            <a:r>
              <a:rPr lang="en-US" sz="950" dirty="0" smtClean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critérios BDD, travando o fluxo final.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8668941" y="4832747"/>
            <a:ext cx="1321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638" y="342900"/>
            <a:ext cx="4489847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Aplicação Prática: XP e Equipe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342900" y="917972"/>
            <a:ext cx="4143375" cy="13108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917972"/>
            <a:ext cx="42863" cy="1310878"/>
          </a:xfrm>
          <a:prstGeom prst="rect">
            <a:avLst/>
          </a:prstGeom>
          <a:solidFill>
            <a:srgbClr val="36B37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1107281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6528" y="1089422"/>
            <a:ext cx="16573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6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Colaboração Extrema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14350" y="1368028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comentários e checklists no Trello para alinhar decisões técnicas e pedagógicas em tempo real com toda a equipe.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657725" y="917972"/>
            <a:ext cx="4143375" cy="13108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4657725" y="917972"/>
            <a:ext cx="42863" cy="1310878"/>
          </a:xfrm>
          <a:prstGeom prst="rect">
            <a:avLst/>
          </a:prstGeom>
          <a:solidFill>
            <a:srgbClr val="36B37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107281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2063" y="1089422"/>
            <a:ext cx="12644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6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Cliente Presente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29175" y="1368028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Participação ativa do professor/cliente validando os critérios BDD na coluna de teste antes de mover para "Concluído".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42900" y="2400300"/>
            <a:ext cx="4143375" cy="13108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342900" y="2400300"/>
            <a:ext cx="42863" cy="1310878"/>
          </a:xfrm>
          <a:prstGeom prst="rect">
            <a:avLst/>
          </a:prstGeom>
          <a:solidFill>
            <a:srgbClr val="36B37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2589609"/>
            <a:ext cx="157163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7238" y="2571750"/>
            <a:ext cx="165020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6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Simplicidade (YAGNI)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14350" y="2850356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estrito em satisfazer apenas os critérios BDD cadastrados, evitando o inchaço de escopo desnecessário.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657725" y="2400300"/>
            <a:ext cx="4143375" cy="13108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57725" y="2400300"/>
            <a:ext cx="42863" cy="1310878"/>
          </a:xfrm>
          <a:prstGeom prst="rect">
            <a:avLst/>
          </a:prstGeom>
          <a:solidFill>
            <a:srgbClr val="36B37E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2589609"/>
            <a:ext cx="15716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72063" y="2571750"/>
            <a:ext cx="148947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6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Feedback Contínuo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829175" y="2850356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Envio constante de protótipos e regras de negócio para validação imediata, reduzindo o retrabalho.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342900" y="3882628"/>
            <a:ext cx="8458200" cy="917972"/>
          </a:xfrm>
          <a:prstGeom prst="rect">
            <a:avLst/>
          </a:prstGeom>
          <a:solidFill>
            <a:srgbClr val="172B4D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8445" y="4227314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219920" y="4245173"/>
            <a:ext cx="507563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Equipe realocou capacidade para destravar o gargalo na validação!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8658225" y="4832747"/>
            <a:ext cx="142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48490"/>
            <a:ext cx="8229600" cy="424543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57200"/>
            <a:ext cx="57150" cy="423672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6" name="Text 2"/>
          <p:cNvSpPr/>
          <p:nvPr/>
        </p:nvSpPr>
        <p:spPr>
          <a:xfrm>
            <a:off x="1000125" y="685800"/>
            <a:ext cx="91371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AB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12" name="Retângulo 11"/>
          <p:cNvSpPr/>
          <p:nvPr/>
        </p:nvSpPr>
        <p:spPr>
          <a:xfrm>
            <a:off x="592183" y="1898469"/>
            <a:ext cx="7959634" cy="1323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2032596"/>
            <a:ext cx="7772400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t-BR" sz="1400" dirty="0" smtClean="0">
                <a:latin typeface="Inter"/>
                <a:ea typeface="Inter"/>
              </a:rPr>
              <a:t>	A </a:t>
            </a:r>
            <a:r>
              <a:rPr lang="pt-BR" sz="1400" dirty="0">
                <a:latin typeface="Inter"/>
                <a:ea typeface="Inter"/>
              </a:rPr>
              <a:t>união de ambos permite que o XP defina como a equipe se comunica, valida e decide (colaboração, cliente ativo, simplicidade e ciclos rápidos) enquanto o </a:t>
            </a:r>
            <a:r>
              <a:rPr lang="pt-BR" sz="1400" dirty="0" err="1">
                <a:latin typeface="Inter"/>
                <a:ea typeface="Inter"/>
              </a:rPr>
              <a:t>Kanban</a:t>
            </a:r>
            <a:r>
              <a:rPr lang="pt-BR" sz="1400" dirty="0">
                <a:latin typeface="Inter"/>
                <a:ea typeface="Inter"/>
              </a:rPr>
              <a:t> defina como o trabalho flui e se organiza visualmente (visibilidade, limites de WIP e eliminação de gargalos). Essa combinação assegura entregas de alto valor, no prazo e com capacidade contínua de adaptação</a:t>
            </a:r>
            <a:r>
              <a:rPr lang="pt-BR" sz="1400" dirty="0" smtClean="0">
                <a:latin typeface="Inter"/>
                <a:ea typeface="Inter"/>
              </a:rPr>
              <a:t>.</a:t>
            </a:r>
          </a:p>
        </p:txBody>
      </p:sp>
      <p:sp>
        <p:nvSpPr>
          <p:cNvPr id="10" name="Text 6"/>
          <p:cNvSpPr/>
          <p:nvPr/>
        </p:nvSpPr>
        <p:spPr>
          <a:xfrm>
            <a:off x="742950" y="2630239"/>
            <a:ext cx="7658100" cy="19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658225" y="4832747"/>
            <a:ext cx="142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1475"/>
            <a:ext cx="8229600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kern="0" spc="-1" dirty="0">
                <a:solidFill>
                  <a:srgbClr val="F3F4F6"/>
                </a:solidFill>
                <a:latin typeface="Inter"/>
                <a:ea typeface="Inter"/>
                <a:cs typeface="Merriweather Bold" pitchFamily="34" charset="-120"/>
              </a:rPr>
              <a:t>Referências bibliográficas</a:t>
            </a:r>
            <a:endParaRPr lang="en-US" sz="1900" dirty="0">
              <a:latin typeface="Inter"/>
              <a:ea typeface="Inter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5788" y="928688"/>
            <a:ext cx="3682603" cy="430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F3F4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AGILE ALLIANCE.</a:t>
            </a:r>
            <a:r>
              <a:rPr lang="en-US" sz="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Extreme Programming (XP). Agile Alliance Glossary, 2026. Disponível em: https://agilealliance.org/glossary/xp/. Acesso em: 09 out. 2026.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85788" y="1495053"/>
            <a:ext cx="3682603" cy="574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F3F4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ALURA.</a:t>
            </a:r>
            <a:r>
              <a:rPr lang="en-US" sz="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que é o Método Kanban: Principais Conceitos, Princípios e Práticas. Artigo Técnico, 2021. Disponível em: https://www.alura.com.br/artigos/metodo-kanban. Acesso em: 09 out. 2026.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85788" y="2204963"/>
            <a:ext cx="3682603" cy="430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F3F4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ATLASSIAN.</a:t>
            </a:r>
            <a:r>
              <a:rPr lang="en-US" sz="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que é o Kanban? Guia de Metodologias Ágeis, 2026. Disponível em: https://www.atlassian.com/br/agile/kanban. Acesso em: 09 out. 2026.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85788" y="2771329"/>
            <a:ext cx="3682603" cy="430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F3F4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DEVMEDIA.</a:t>
            </a:r>
            <a:r>
              <a:rPr lang="en-US" sz="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Extreme Programming: Conceitos e Práticas. Artigo Técnico, 2012. Disponível em: https://www.devmedia.com.br/extreme-programming-conceitos-e-praticas/1498. Acesso em: 09 out. 2026.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04197" y="928688"/>
            <a:ext cx="3682603" cy="430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F3F4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IBM.</a:t>
            </a:r>
            <a:r>
              <a:rPr lang="en-US" sz="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que é gestão ágil de projetos? IBM Think Topics, 2024. Disponível em: https://www.ibm.com/br-pt/think/topics/agile-project-management. Acesso em: 09 out. 2026.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004197" y="1495053"/>
            <a:ext cx="3682603" cy="717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F3F4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SERVICENOW.</a:t>
            </a:r>
            <a:r>
              <a:rPr lang="en-US" sz="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que é gerenciamento ágil de projetos? Guia Estratégico de Portfólio, 2026. Disponível em: https://www.servicenow.com/br/products/strategic-portfolio-management/what-is-agile-project-management.html. Acesso em: 09 out. 2026.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04197" y="2348508"/>
            <a:ext cx="3682603" cy="574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F3F4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SYDLE.</a:t>
            </a:r>
            <a:r>
              <a:rPr lang="en-US" sz="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Extreme Programming (XP): o que é e como funciona essa metodologia ágil? Blog SYDLE, 2021. Disponível em: https://www.sydle.com/br/blog/extreme-programming-602ee205da4d096809438c9c. Acesso em: 09 out. 2026.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04197" y="3058418"/>
            <a:ext cx="3682603" cy="430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F3F4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UMBLER.</a:t>
            </a:r>
            <a:r>
              <a:rPr lang="en-US" sz="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Método Kanban: o que é, como funciona e como aplicar na prática. Blog Umbler, 2024. Disponível em: https://blog.umbler.com/br/metodo-kanban/. Acesso em: 09 out. 2026.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" y="4625578"/>
            <a:ext cx="822960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4625578"/>
            <a:ext cx="8229600" cy="7144"/>
          </a:xfrm>
          <a:prstGeom prst="rect">
            <a:avLst/>
          </a:prstGeom>
          <a:solidFill>
            <a:srgbClr val="EBEDEF"/>
          </a:solidFill>
          <a:ln/>
        </p:spPr>
      </p:sp>
      <p:sp>
        <p:nvSpPr>
          <p:cNvPr id="16" name="Retângulo 15"/>
          <p:cNvSpPr/>
          <p:nvPr/>
        </p:nvSpPr>
        <p:spPr>
          <a:xfrm>
            <a:off x="8533553" y="4801098"/>
            <a:ext cx="306494" cy="223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50" dirty="0" smtClean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92623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755</Words>
  <Application>Microsoft Office PowerPoint</Application>
  <PresentationFormat>Apresentação na tela (16:9)</PresentationFormat>
  <Paragraphs>113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Inter</vt:lpstr>
      <vt:lpstr>Inter Bold</vt:lpstr>
      <vt:lpstr>Inter SemiBold</vt:lpstr>
      <vt:lpstr>Merriweather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Conta da Microsoft</cp:lastModifiedBy>
  <cp:revision>8</cp:revision>
  <dcterms:created xsi:type="dcterms:W3CDTF">2026-10-16T01:11:05Z</dcterms:created>
  <dcterms:modified xsi:type="dcterms:W3CDTF">2026-10-16T16:45:26Z</dcterms:modified>
</cp:coreProperties>
</file>